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Roboto Slab"/>
      <p:regular r:id="rId21"/>
    </p:embeddedFont>
    <p:embeddedFont>
      <p:font typeface="Roboto Slab Bold"/>
      <p:regular r:id="rId22"/>
    </p:embeddedFont>
    <p:embeddedFont>
      <p:font typeface="Roboto"/>
      <p:regular r:id="rId23"/>
    </p:embeddedFont>
    <p:embeddedFont>
      <p:font typeface="Roboto Bold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slideLayout" Target="../slideLayouts/slideLayout9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slideLayout" Target="../slideLayouts/slideLayout12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svg"/><Relationship Id="rId16" Type="http://schemas.openxmlformats.org/officeDocument/2006/relationships/slideLayout" Target="../slideLayouts/slideLayout13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svg"/><Relationship Id="rId16" Type="http://schemas.openxmlformats.org/officeDocument/2006/relationships/slideLayout" Target="../slideLayouts/slideLayout14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22857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Personal Finance Data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327151"/>
            <a:ext cx="47227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personal finance data to uncover key insights about income, expenses, savings, debt management, and financial habits.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structured queries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(Pandas, Matplotlib, Seaborn) for advanced analysis and visualization, the project provides actionable recommendations for budgeting, investment planning, and financial health improvement — simulating a financial advisory system that helps individuals make smarter money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04664"/>
            <a:ext cx="853827" cy="179040"/>
          </a:xfrm>
          <a:prstGeom prst="roundRect">
            <a:avLst>
              <a:gd name="adj" fmla="val 7015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51111" y="435992"/>
            <a:ext cx="1185565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88379" y="614586"/>
            <a:ext cx="3883447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&amp; Expense Analysis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88379" y="1057498"/>
            <a:ext cx="8624441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visualizations reveal spending behavior, savings patterns, and income-to-expense dynamics across the customer base.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379" y="1289968"/>
            <a:ext cx="8167241" cy="6279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487" y="1505843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8562" y="1408881"/>
            <a:ext cx="162803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vs. Expense Trend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98562" y="1618729"/>
            <a:ext cx="7538145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 chart tracking monthly income and expense movement over time.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379" y="1995190"/>
            <a:ext cx="8167241" cy="6279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487" y="2211065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98562" y="2114104"/>
            <a:ext cx="184673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Expense Category Breakdown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98562" y="2323951"/>
            <a:ext cx="7538145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Pie chart showing share of top expense categories across all customers.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379" y="2700412"/>
            <a:ext cx="8167241" cy="6279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487" y="2916287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98562" y="2819326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Distribution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98562" y="3029173"/>
            <a:ext cx="7538145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of savings (income – expense) across individuals.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379" y="3405634"/>
            <a:ext cx="8167241" cy="6279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3487" y="3621509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98562" y="3524548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Outlier Detection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98562" y="3734395"/>
            <a:ext cx="7538145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Boxplots identifying statistical outliers in income and expense data.</a:t>
            </a:r>
            <a:endParaRPr lang="en-US" sz="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379" y="4110856"/>
            <a:ext cx="8167241" cy="6279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3487" y="4326731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98562" y="4229770"/>
            <a:ext cx="166598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Yearly Growth Comparison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98562" y="4439617"/>
            <a:ext cx="7538145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 chart comparing year-over-year expense growth vs. income growth.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377651"/>
            <a:ext cx="727918" cy="146521"/>
          </a:xfrm>
          <a:prstGeom prst="roundRect">
            <a:avLst>
              <a:gd name="adj" fmla="val 7311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34144" y="404366"/>
            <a:ext cx="1078111" cy="9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ANALYSIS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80640" y="546646"/>
            <a:ext cx="368260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&amp; Investment Patterns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40" y="973038"/>
            <a:ext cx="1769492" cy="1769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5503" y="1799555"/>
            <a:ext cx="5699745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analyses segment savers by behavior, map investment concentration, and quantify the income-to-savings relationship.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27" y="2871676"/>
            <a:ext cx="133871" cy="1338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0706" y="2868885"/>
            <a:ext cx="111583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10% Savers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70706" y="3042121"/>
            <a:ext cx="7892653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high-performing savers by savings-to-income ratio.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127" y="3273661"/>
            <a:ext cx="133871" cy="1338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0706" y="3270870"/>
            <a:ext cx="126570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Rate Histogram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770706" y="3444106"/>
            <a:ext cx="7892653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of savings rates across the full customer base.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127" y="3675645"/>
            <a:ext cx="133871" cy="1338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0706" y="3672855"/>
            <a:ext cx="1245096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Investment by Category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770706" y="3846091"/>
            <a:ext cx="7892653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chart comparing investment amounts across asset categories.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127" y="4077630"/>
            <a:ext cx="133871" cy="13387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0706" y="4074840"/>
            <a:ext cx="111583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5 Investors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770706" y="4248076"/>
            <a:ext cx="7892653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the highest total investment contributors.</a:t>
            </a:r>
            <a:endParaRPr lang="en-US" sz="7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4127" y="4479615"/>
            <a:ext cx="133871" cy="13387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0706" y="4476824"/>
            <a:ext cx="1613743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vs. Income Scatterplot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770706" y="4650060"/>
            <a:ext cx="7892653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correlation between income level and savings behavior.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88132"/>
            <a:ext cx="1156171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30622"/>
            <a:ext cx="14432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11238"/>
            <a:ext cx="49267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Loans &amp; Debt Management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668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visualizations assess debt burden, age-group loan patterns, and interest rate sensitivity across the portfolio.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253109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3948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EMI-to-Income Ratio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70137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chart showing debt burden relative to income per individual.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253109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3402360" y="2394868"/>
            <a:ext cx="18442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Amounts by 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2360" y="270137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Boxplot comparing loan distribution across age groups.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253109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6166842" y="2394868"/>
            <a:ext cx="21853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Default Risk by Loan Type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6842" y="270137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probability of default across loan categories.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38525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637877" y="35802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Interest Rate Shock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877" y="388679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 a 1% rate rise and plot risk bucket shifts.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38525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9" name="Text 17"/>
          <p:cNvSpPr/>
          <p:nvPr/>
        </p:nvSpPr>
        <p:spPr>
          <a:xfrm>
            <a:off x="4784601" y="35802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EMI Distribution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4601" y="388679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distribution of EMI values across all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7962"/>
            <a:ext cx="809253" cy="167506"/>
          </a:xfrm>
          <a:prstGeom prst="roundRect">
            <a:avLst>
              <a:gd name="adj" fmla="val 7109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55650" y="507727"/>
            <a:ext cx="1147390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ANALYSIS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73224"/>
            <a:ext cx="4648274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Demographics &amp; Financial Behavior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2041624"/>
            <a:ext cx="56710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analyses reveal how marital status, gender, profession, and age shape financial outcomes.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771" y="1165622"/>
            <a:ext cx="1886992" cy="18869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3208883"/>
            <a:ext cx="2000101" cy="6936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2463" y="3322365"/>
            <a:ext cx="1435224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Marital Status &amp; Savings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52463" y="3519041"/>
            <a:ext cx="171598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chart comparing savings between married and single individuals.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7073" y="3208883"/>
            <a:ext cx="2000176" cy="6936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07704" y="3322365"/>
            <a:ext cx="1656383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Gender Income-Savings Gap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2707704" y="3519041"/>
            <a:ext cx="17160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the gap in income and savings across genders.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2389" y="3208883"/>
            <a:ext cx="2000176" cy="6936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63021" y="3322365"/>
            <a:ext cx="1332235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Profession vs. Stability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763021" y="3519041"/>
            <a:ext cx="17160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Heatmap of profession against financial stability score.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7706" y="3208883"/>
            <a:ext cx="2000176" cy="6936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18337" y="3322365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 Group Expenses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6818337" y="3519041"/>
            <a:ext cx="17160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Stacked bar chart of top 3 expenses by age group.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831" y="3971925"/>
            <a:ext cx="2000101" cy="6936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2463" y="4085406"/>
            <a:ext cx="166992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Financial Correlation Matrix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652463" y="4282083"/>
            <a:ext cx="171598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Heatmap of income, expenses, savings, investments, and EMI.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04664"/>
            <a:ext cx="853827" cy="179040"/>
          </a:xfrm>
          <a:prstGeom prst="roundRect">
            <a:avLst>
              <a:gd name="adj" fmla="val 7015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51111" y="435992"/>
            <a:ext cx="1185565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88379" y="614586"/>
            <a:ext cx="5381625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Assessment &amp; Scenario Simulation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88379" y="1057498"/>
            <a:ext cx="8624441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simulations stress-test customer financial health under adverse conditions and identify vulnerable segments.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88379" y="1289968"/>
            <a:ext cx="418654" cy="627980"/>
          </a:xfrm>
          <a:prstGeom prst="roundRect">
            <a:avLst>
              <a:gd name="adj" fmla="val 360003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619199" y="1505843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4275" y="1394594"/>
            <a:ext cx="150234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Bucket Distribution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4275" y="1604442"/>
            <a:ext cx="7671346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 customer distribution across Low, Medium, and High risk tiers.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8379" y="1995190"/>
            <a:ext cx="418654" cy="627980"/>
          </a:xfrm>
          <a:prstGeom prst="roundRect">
            <a:avLst>
              <a:gd name="adj" fmla="val 360003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619199" y="2211065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4275" y="2099816"/>
            <a:ext cx="151544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 Rebate Beneficiaries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4275" y="2309664"/>
            <a:ext cx="7671346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eligible customers and visualize with a pie chart.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8379" y="2700412"/>
            <a:ext cx="418654" cy="627980"/>
          </a:xfrm>
          <a:prstGeom prst="roundRect">
            <a:avLst>
              <a:gd name="adj" fmla="val 360003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619199" y="2916287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4275" y="2805038"/>
            <a:ext cx="1747168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15% Income Drop Simulation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4275" y="3014886"/>
            <a:ext cx="7671346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the impact of income reduction and plot affected customers.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8379" y="3405634"/>
            <a:ext cx="418654" cy="627980"/>
          </a:xfrm>
          <a:prstGeom prst="roundRect">
            <a:avLst>
              <a:gd name="adj" fmla="val 360003"/>
            </a:avLst>
          </a:prstGeom>
          <a:solidFill>
            <a:srgbClr val="3F4652"/>
          </a:solidFill>
          <a:ln/>
        </p:spPr>
      </p:sp>
      <p:sp>
        <p:nvSpPr>
          <p:cNvPr id="19" name="Text 17"/>
          <p:cNvSpPr/>
          <p:nvPr/>
        </p:nvSpPr>
        <p:spPr>
          <a:xfrm>
            <a:off x="619199" y="3621509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4275" y="3510260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10% Inflation Shock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4275" y="3720108"/>
            <a:ext cx="7671346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expense profiles before and after an inflation spike.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8379" y="4110856"/>
            <a:ext cx="418654" cy="627980"/>
          </a:xfrm>
          <a:prstGeom prst="roundRect">
            <a:avLst>
              <a:gd name="adj" fmla="val 360003"/>
            </a:avLst>
          </a:prstGeom>
          <a:solidFill>
            <a:srgbClr val="3F4652"/>
          </a:solidFill>
          <a:ln/>
        </p:spPr>
      </p:sp>
      <p:sp>
        <p:nvSpPr>
          <p:cNvPr id="23" name="Text 21"/>
          <p:cNvSpPr/>
          <p:nvPr/>
        </p:nvSpPr>
        <p:spPr>
          <a:xfrm>
            <a:off x="619199" y="4326731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4275" y="4215482"/>
            <a:ext cx="1959173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At-Risk Customer Identification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4275" y="4425330"/>
            <a:ext cx="7671346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Scatterplot highlighting low-savings, high-EMI individuals.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9163"/>
            <a:ext cx="777627" cy="214759"/>
          </a:xfrm>
          <a:prstGeom prst="roundRect">
            <a:avLst>
              <a:gd name="adj" fmla="val 6733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85254"/>
            <a:ext cx="1090315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04850"/>
            <a:ext cx="5163220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&amp; Expense — SQL Queries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234976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foundational queries establish baseline financial metrics and surface customers under financial pressure.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528465"/>
            <a:ext cx="271090" cy="27109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541251" y="1551012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9603" y="1569839"/>
            <a:ext cx="202450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Income vs. Expense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9603" y="1819498"/>
            <a:ext cx="777827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monthly averages across the full customer base.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202582"/>
            <a:ext cx="271090" cy="27109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541251" y="2225129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9603" y="2243956"/>
            <a:ext cx="186124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 Expense Category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9603" y="2493615"/>
            <a:ext cx="777827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category consuming the largest share of income.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876699"/>
            <a:ext cx="271090" cy="27109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1251" y="2899246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9603" y="2918073"/>
            <a:ext cx="208485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Paycheck-to-Paycheck Count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9603" y="3167732"/>
            <a:ext cx="777827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customers where expenses ≥ income.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3550816"/>
            <a:ext cx="271090" cy="27109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9" name="Text 17"/>
          <p:cNvSpPr/>
          <p:nvPr/>
        </p:nvSpPr>
        <p:spPr>
          <a:xfrm>
            <a:off x="541251" y="3573363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603" y="3592190"/>
            <a:ext cx="172402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Aggregate Savings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9603" y="3841849"/>
            <a:ext cx="777827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 total savings generated across all customers.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6119" y="4224933"/>
            <a:ext cx="271090" cy="27109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23" name="Text 21"/>
          <p:cNvSpPr/>
          <p:nvPr/>
        </p:nvSpPr>
        <p:spPr>
          <a:xfrm>
            <a:off x="541251" y="4247480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9603" y="4266307"/>
            <a:ext cx="188788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10 by Monthly Surplus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9603" y="4515966"/>
            <a:ext cx="777827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customers by highest income-minus-expense surplus.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070" y="297656"/>
            <a:ext cx="445666" cy="107156"/>
          </a:xfrm>
          <a:prstGeom prst="roundRect">
            <a:avLst>
              <a:gd name="adj" fmla="val 7740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413519" y="318343"/>
            <a:ext cx="819969" cy="65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372070" y="418281"/>
            <a:ext cx="3508400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&amp; Investments — SQL Queries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70" y="722635"/>
            <a:ext cx="1839664" cy="183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75794" y="1601316"/>
            <a:ext cx="5768206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queries profile savings behavior, surface top investors, and benchmark investment participation across income tiers.</a:t>
            </a:r>
            <a:endParaRPr lang="en-US" sz="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070" y="2638053"/>
            <a:ext cx="8399859" cy="414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7916" y="2780556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91604" y="2716634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Median Savings Rate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91604" y="2844775"/>
            <a:ext cx="8001744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the median savings rate across all individuals.</a:t>
            </a:r>
            <a:endParaRPr lang="en-US" sz="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070" y="3086323"/>
            <a:ext cx="8399859" cy="414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916" y="3228826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691604" y="3164904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20%+ Savers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691604" y="3293046"/>
            <a:ext cx="8001744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customers saving more than 20% of income.</a:t>
            </a:r>
            <a:endParaRPr lang="en-US" sz="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070" y="3534594"/>
            <a:ext cx="8399859" cy="4146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7916" y="3677096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691604" y="3613175"/>
            <a:ext cx="1024756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Popular Investment</a:t>
            </a:r>
            <a:endParaRPr lang="en-US" sz="650" dirty="0"/>
          </a:p>
        </p:txBody>
      </p:sp>
      <p:sp>
        <p:nvSpPr>
          <p:cNvPr id="18" name="Text 12"/>
          <p:cNvSpPr/>
          <p:nvPr/>
        </p:nvSpPr>
        <p:spPr>
          <a:xfrm>
            <a:off x="691604" y="3741316"/>
            <a:ext cx="8001744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category with the highest participation rate.</a:t>
            </a:r>
            <a:endParaRPr lang="en-US" sz="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070" y="3982864"/>
            <a:ext cx="8399859" cy="4146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7916" y="4125367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91604" y="4061445"/>
            <a:ext cx="86387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5 Investors</a:t>
            </a:r>
            <a:endParaRPr lang="en-US" sz="650" dirty="0"/>
          </a:p>
        </p:txBody>
      </p:sp>
      <p:sp>
        <p:nvSpPr>
          <p:cNvPr id="22" name="Text 15"/>
          <p:cNvSpPr/>
          <p:nvPr/>
        </p:nvSpPr>
        <p:spPr>
          <a:xfrm>
            <a:off x="691604" y="4189586"/>
            <a:ext cx="8001744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customers with the highest total investment amounts.</a:t>
            </a:r>
            <a:endParaRPr lang="en-US" sz="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2070" y="4431134"/>
            <a:ext cx="8399859" cy="41463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67916" y="4573637"/>
            <a:ext cx="10365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691604" y="4509715"/>
            <a:ext cx="1294730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Investment-to-Income by Group</a:t>
            </a:r>
            <a:endParaRPr lang="en-US" sz="650" dirty="0"/>
          </a:p>
        </p:txBody>
      </p:sp>
      <p:sp>
        <p:nvSpPr>
          <p:cNvPr id="26" name="Text 18"/>
          <p:cNvSpPr/>
          <p:nvPr/>
        </p:nvSpPr>
        <p:spPr>
          <a:xfrm>
            <a:off x="691604" y="4637856"/>
            <a:ext cx="8001744" cy="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ratios across income segments.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8974"/>
            <a:ext cx="914698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01464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82080"/>
            <a:ext cx="50722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Loans &amp; Debt — SQL Queries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3766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queries quantify debt exposure, flag high-risk borrowers, and assess repayment behavior.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323951"/>
            <a:ext cx="8151763" cy="1860500"/>
          </a:xfrm>
          <a:prstGeom prst="roundRect">
            <a:avLst>
              <a:gd name="adj" fmla="val 1143"/>
            </a:avLst>
          </a:prstGeom>
          <a:solidFill>
            <a:srgbClr val="3F4652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323951"/>
            <a:ext cx="2717229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637877" y="2465710"/>
            <a:ext cx="18674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Loan Amount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7877" y="277222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average loan by type and age group.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3348" y="2323951"/>
            <a:ext cx="2717229" cy="1043657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1" name="Shape 9"/>
          <p:cNvSpPr/>
          <p:nvPr/>
        </p:nvSpPr>
        <p:spPr>
          <a:xfrm>
            <a:off x="3213348" y="2323951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107" y="24657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 EMI Payers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55107" y="277222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top 10 customers by EMI burden.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0578" y="2323951"/>
            <a:ext cx="2717229" cy="1043657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0578" y="2323951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6" name="Text 14"/>
          <p:cNvSpPr/>
          <p:nvPr/>
        </p:nvSpPr>
        <p:spPr>
          <a:xfrm>
            <a:off x="6072336" y="2465710"/>
            <a:ext cx="1785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High-Risk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72336" y="277222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customers with EMI-to-income &gt; 40%.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367608"/>
            <a:ext cx="4075807" cy="816843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6119" y="3367608"/>
            <a:ext cx="4075807" cy="1905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20" name="Text 18"/>
          <p:cNvSpPr/>
          <p:nvPr/>
        </p:nvSpPr>
        <p:spPr>
          <a:xfrm>
            <a:off x="637877" y="35093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Default Rate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7877" y="3815879"/>
            <a:ext cx="3792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default rate by loan type.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1926" y="3367608"/>
            <a:ext cx="4075881" cy="816843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1926" y="3367608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1926" y="336760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25" name="Text 23"/>
          <p:cNvSpPr/>
          <p:nvPr/>
        </p:nvSpPr>
        <p:spPr>
          <a:xfrm>
            <a:off x="4713684" y="3509367"/>
            <a:ext cx="23176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Outstanding Loan Exposure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13684" y="3815879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outstanding loan amount per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5169"/>
            <a:ext cx="914698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7659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8274"/>
            <a:ext cx="62591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Demographics, Risk &amp; Key Insights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938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queries complete the demographic and risk picture, then synthesize findings into actionable recommendations.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880146"/>
            <a:ext cx="2641774" cy="13032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077" y="2040954"/>
            <a:ext cx="21392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by Marital Status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4077" y="234746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average savings between married and single customers.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880146"/>
            <a:ext cx="2641774" cy="13032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8560" y="2040954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Gender-Based Financial Gap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8560" y="256892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income and savings differences by gender.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1880146"/>
            <a:ext cx="2641774" cy="13032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2040954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Profession vs. Financial Health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43042" y="256892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professions by financial stability score.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069" y="3325118"/>
            <a:ext cx="2641774" cy="13032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4077" y="3485927"/>
            <a:ext cx="22000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Category Distribution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14077" y="379243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customers in Low, Medium, and High risk buckets.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1551" y="3325118"/>
            <a:ext cx="2641774" cy="13032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78560" y="3485927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Insights &amp; Recommendations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478560" y="4013895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findings and provide financial advisory suggestions.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0794"/>
            <a:ext cx="914698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43285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39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Loans &amp; Debt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1521247"/>
            <a:ext cx="425276" cy="42527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638151"/>
            <a:ext cx="191319" cy="19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877" y="2088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EMI Burden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7877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percentage of people have EMI-to-Income ratio above 40%?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60601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60" y="1521247"/>
            <a:ext cx="425276" cy="42527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1638151"/>
            <a:ext cx="191319" cy="1913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02360" y="2088282"/>
            <a:ext cx="21022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Outstanding Loan by Age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402360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the average outstanding loan amount per age group?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025083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1521247"/>
            <a:ext cx="425276" cy="42527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3821" y="1638151"/>
            <a:ext cx="191319" cy="19131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66842" y="2088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 Default Risk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166842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loan type has the highest default risk based on EMI burden?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96119" y="313193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877" y="3273698"/>
            <a:ext cx="425276" cy="425276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856" y="3390602"/>
            <a:ext cx="191319" cy="19131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37877" y="38407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Denial Filter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637877" y="4147245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users would be denied loans under DTI above 50% and Credit Score below 650?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4642842" y="313193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4601" y="3273698"/>
            <a:ext cx="425276" cy="425276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1580" y="3390602"/>
            <a:ext cx="191319" cy="19131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784601" y="38407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EMI Customers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4784601" y="414724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the top 5 customers with the highest EMI amounts.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4201"/>
            <a:ext cx="914698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6692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7307"/>
            <a:ext cx="46474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Demographics &amp; Finance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492895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1634654"/>
            <a:ext cx="425276" cy="42527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751558"/>
            <a:ext cx="191319" cy="19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877" y="2201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Marital Savings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7877" y="2508200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married people save more than single people?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60601" y="1492895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60" y="1634654"/>
            <a:ext cx="425276" cy="42527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1751558"/>
            <a:ext cx="191319" cy="1913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02360" y="2201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by Gender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402360" y="2508200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there a gender difference in average income?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025083" y="1492895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1634654"/>
            <a:ext cx="425276" cy="42527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3821" y="1751558"/>
            <a:ext cx="191319" cy="19131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66842" y="2201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Savings Ratio by Job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166842" y="2508200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profession has the highest savings-to-income ratio?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96119" y="3245346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877" y="3387105"/>
            <a:ext cx="425276" cy="425276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856" y="3504009"/>
            <a:ext cx="191319" cy="19131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37877" y="39541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Age-Based Spending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637877" y="426065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are the top 3 expense categories by age group?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4642842" y="3245346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4601" y="3387105"/>
            <a:ext cx="425276" cy="425276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1580" y="3504009"/>
            <a:ext cx="191319" cy="19131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784601" y="39541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Regional Income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4784601" y="426065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region or city has the highest average income?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8076"/>
            <a:ext cx="868859" cy="248692"/>
          </a:xfrm>
          <a:prstGeom prst="roundRect">
            <a:avLst>
              <a:gd name="adj" fmla="val 6499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76858" y="478408"/>
            <a:ext cx="1164580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37890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&amp; Policy Rules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96119" y="1350690"/>
            <a:ext cx="2631951" cy="1718444"/>
          </a:xfrm>
          <a:prstGeom prst="roundRect">
            <a:avLst>
              <a:gd name="adj" fmla="val 1176"/>
            </a:avLst>
          </a:prstGeom>
          <a:solidFill>
            <a:srgbClr val="3F46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34" y="1485305"/>
            <a:ext cx="403994" cy="40399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34" y="1596330"/>
            <a:ext cx="181794" cy="1817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734" y="201721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Classification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0734" y="2304306"/>
            <a:ext cx="236272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customers as Low, Medium, or High Risk using EMI-to-Income thresholds.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55987" y="1350690"/>
            <a:ext cx="2631951" cy="1718444"/>
          </a:xfrm>
          <a:prstGeom prst="roundRect">
            <a:avLst>
              <a:gd name="adj" fmla="val 1176"/>
            </a:avLst>
          </a:prstGeom>
          <a:solidFill>
            <a:srgbClr val="3F465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602" y="1485305"/>
            <a:ext cx="403994" cy="40399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1703" y="1596330"/>
            <a:ext cx="181794" cy="181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90602" y="201721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 Rebate Check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390602" y="2304306"/>
            <a:ext cx="23627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how many qualify when savings are above 20% of income.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015856" y="1350690"/>
            <a:ext cx="2631951" cy="1718444"/>
          </a:xfrm>
          <a:prstGeom prst="roundRect">
            <a:avLst>
              <a:gd name="adj" fmla="val 1176"/>
            </a:avLst>
          </a:prstGeom>
          <a:solidFill>
            <a:srgbClr val="3F465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471" y="1485305"/>
            <a:ext cx="403994" cy="40399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1571" y="1596330"/>
            <a:ext cx="181794" cy="18179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50471" y="2017216"/>
            <a:ext cx="173697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Poverty Line Scenario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150471" y="2304306"/>
            <a:ext cx="236272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how many fall below the poverty line if income drops by 15%.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96119" y="3197051"/>
            <a:ext cx="4011885" cy="1508373"/>
          </a:xfrm>
          <a:prstGeom prst="roundRect">
            <a:avLst>
              <a:gd name="adj" fmla="val 1339"/>
            </a:avLst>
          </a:prstGeom>
          <a:solidFill>
            <a:srgbClr val="3F465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734" y="3331666"/>
            <a:ext cx="403994" cy="403994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834" y="3442692"/>
            <a:ext cx="181794" cy="18179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30734" y="3863578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Inflation Impact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630734" y="4150668"/>
            <a:ext cx="374265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customers whose expenses exceed income after a 10% inflation rise.</a:t>
            </a:r>
            <a:endParaRPr lang="en-US" sz="1050" dirty="0"/>
          </a:p>
        </p:txBody>
      </p:sp>
      <p:sp>
        <p:nvSpPr>
          <p:cNvPr id="25" name="Shape 15"/>
          <p:cNvSpPr/>
          <p:nvPr/>
        </p:nvSpPr>
        <p:spPr>
          <a:xfrm>
            <a:off x="4635922" y="3197051"/>
            <a:ext cx="4011885" cy="1508373"/>
          </a:xfrm>
          <a:prstGeom prst="roundRect">
            <a:avLst>
              <a:gd name="adj" fmla="val 1339"/>
            </a:avLst>
          </a:prstGeom>
          <a:solidFill>
            <a:srgbClr val="3F4652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0537" y="3331666"/>
            <a:ext cx="403994" cy="403994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1637" y="3442692"/>
            <a:ext cx="181794" cy="18179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770537" y="3863578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At Risk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4770537" y="4150668"/>
            <a:ext cx="374265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customers with low savings, high EMI, and high debt.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892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for your time and attention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854797" y="2987799"/>
            <a:ext cx="1364084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6" name="Text 3"/>
          <p:cNvSpPr/>
          <p:nvPr/>
        </p:nvSpPr>
        <p:spPr>
          <a:xfrm>
            <a:off x="3939853" y="3030289"/>
            <a:ext cx="16511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UMANG  SHRIVASTAVA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2026-06-01T17:36:24Z</dcterms:created>
  <dcterms:modified xsi:type="dcterms:W3CDTF">2026-06-01T17:36:24Z</dcterms:modified>
</cp:coreProperties>
</file>